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6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9E5F-CFCA-04E8-BE03-88E18883F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2D057-B567-DA85-5DE8-63EDEC78A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FAFD6-5E51-97D1-7C0C-C06C56AB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AEC4C-35E8-FE7F-6080-9040AAB5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D21CC-9972-F630-DDAC-0CB79D04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1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9525-966B-9C95-A12A-5ED5E618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E666-6ECB-7B93-BB8A-6FF0E3235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A2230-188C-71A5-31FC-A6C505E9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38A80-A932-9C7F-64E7-FF595A92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DCAD8-102A-7C0C-2223-983D5E1A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5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C487-1BA0-A43D-DFB3-7874DD6E0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C27C8-C3C3-BA76-DD0C-0E90952A5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8E94-6B1A-3CB8-79EC-BFB05F3C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3CB04-463D-AC82-0317-7D8953937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8F2AB-DCB2-38B0-833C-7F095064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1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DFF79-92B9-9B39-A09F-83EF39BC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8A99B-A037-BDB7-FD31-4E7708838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59636-C73A-554A-24EB-73A090D7A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1969C-4B12-D850-E0B7-FA518C94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324F4-A67D-FE4B-7856-A1D56C099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C9F03-F743-9C7F-7175-812F0C90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21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D91E-710A-AC5C-13AE-B7B4228A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3FE84-3C34-0BD4-0745-EC37AB385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97185-6EC3-A7D2-04A1-99A999408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E26AA-6AF1-D254-79E6-CED449796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E5FA2-F5EA-E8FC-AADA-8D6D3CC27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B60E54-EBBA-0A59-B8BC-976BD029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8D0F8-49DE-7E80-98B8-37B16685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478DF-B2D9-8A5B-FC66-8483F1F76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29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57CC-E172-9991-FA16-20D2F151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8C255-EFCB-EFB8-E8D5-5EE01790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F9D9A-720C-5F47-CC53-2B7434579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E2980-9DDB-1380-28B3-FFDBA5DC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0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2D093-1B3E-E32C-1D9F-9AEB5321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54F30-8155-26F0-7465-CF16B38C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B617B-E60B-32E4-F0C9-258379F8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3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E296-B31F-3C3E-1254-69E31828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F61C5-2AB8-F5C5-D474-E5417AE47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926C5-4F8B-755F-23B5-B9B2A3069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2838-E055-527E-A428-C3BF8E81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6AB63-7E12-849E-2182-529576AD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F8433-D924-272E-C19B-7E2FCC97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1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AD0C-1B4F-492C-F7E5-3223B7AD8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4960E-1892-F3D3-525B-D3231E7E82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49DFB-9EAA-68F0-8DB8-B669B03AA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CDE2F-4A96-AC73-90CD-95B1C4D9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ABFED-A91E-8BF6-64A8-4FEA53EE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4C7AD-7D92-9742-F273-37CD5603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1D5E3-65BF-C64E-FF59-3E401103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9E3B3-7B83-20C4-C837-B3B81E7CF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6A89B-2360-A10F-582F-A146FAB6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2D449-2210-CC53-D3F7-44B36656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99B00-2116-DD1A-DBFC-8E50BDA4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4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51266F-FA32-7D83-5137-49ACF827A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D6D17-A266-8CED-42FD-1496388FF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B8E6D-EF55-2F25-F10C-2C9CC969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FA0F0-7808-AAC9-ABB7-64363779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472ED-5BF7-2C42-FF34-8F82D656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5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0FC845-F315-ED73-4195-A74DBBA6F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DB9A0-4A71-C61C-9D97-826B12440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0233C-A69B-EA9F-50B1-E6A7F4482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24C4C-433B-415C-9503-BD42FB31707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05923-B76A-2AD8-9AE6-2989F7302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B133B-B398-A8C4-CBB3-BB6CD3FB4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5EFE4-5974-49DF-992B-39BD2C10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56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97432-DAAD-D09F-2A43-BA523A5048A0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ED34EF-927B-69A1-D0A9-B5B199E9822B}"/>
              </a:ext>
            </a:extLst>
          </p:cNvPr>
          <p:cNvSpPr txBox="1"/>
          <p:nvPr/>
        </p:nvSpPr>
        <p:spPr>
          <a:xfrm>
            <a:off x="889000" y="2095500"/>
            <a:ext cx="10414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000" b="1">
                <a:solidFill>
                  <a:srgbClr val="0F172A"/>
                </a:solidFill>
                <a:latin typeface="Calibri" panose="020F0502020204030204" pitchFamily="34" charset="0"/>
              </a:rPr>
              <a:t>Urban Ghost Kitchen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E4327-C905-57A3-CF1F-9BEF1B849B0D}"/>
              </a:ext>
            </a:extLst>
          </p:cNvPr>
          <p:cNvSpPr txBox="1"/>
          <p:nvPr/>
        </p:nvSpPr>
        <p:spPr>
          <a:xfrm>
            <a:off x="889000" y="3048000"/>
            <a:ext cx="1041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1E293B"/>
                </a:solidFill>
                <a:latin typeface="Calibri" panose="020F0502020204030204" pitchFamily="34" charset="0"/>
              </a:rPr>
              <a:t>A Data Analytics Case Study on Cloud Kitchen Orders, Revenue &amp; Delivery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416DA9-ACE3-47D5-8745-D1BE642739EA}"/>
              </a:ext>
            </a:extLst>
          </p:cNvPr>
          <p:cNvSpPr/>
          <p:nvPr/>
        </p:nvSpPr>
        <p:spPr>
          <a:xfrm>
            <a:off x="889000" y="3810000"/>
            <a:ext cx="76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CBFE99-A1FE-7427-E219-A0AD9434BF93}"/>
              </a:ext>
            </a:extLst>
          </p:cNvPr>
          <p:cNvSpPr txBox="1"/>
          <p:nvPr/>
        </p:nvSpPr>
        <p:spPr>
          <a:xfrm>
            <a:off x="889000" y="4038600"/>
            <a:ext cx="1041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563EB"/>
                </a:solidFill>
                <a:latin typeface="Calibri" panose="020F0502020204030204" pitchFamily="34" charset="0"/>
              </a:rPr>
              <a:t>Prepared by Arannayava Debnath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3F59F-888C-876F-1151-9A1ADA06A8F6}"/>
              </a:ext>
            </a:extLst>
          </p:cNvPr>
          <p:cNvSpPr txBox="1"/>
          <p:nvPr/>
        </p:nvSpPr>
        <p:spPr>
          <a:xfrm>
            <a:off x="889000" y="58420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4748B"/>
                </a:solidFill>
                <a:latin typeface="Calibri" panose="020F0502020204030204" pitchFamily="34" charset="0"/>
              </a:rPr>
              <a:t>Python   |   Pandas   |   MySQL   |   SQL   |   SQLAlchemy   |   Matplotlib</a:t>
            </a:r>
          </a:p>
        </p:txBody>
      </p:sp>
    </p:spTree>
    <p:extLst>
      <p:ext uri="{BB962C8B-B14F-4D97-AF65-F5344CB8AC3E}">
        <p14:creationId xmlns:p14="http://schemas.microsoft.com/office/powerpoint/2010/main" val="3004632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D7CE46-AA19-940A-DCFF-E0DEDBF396D2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Business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BCE28E-88CA-021A-F93E-EC528A0ABFF9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1B3C9-23EF-FEB5-8D00-2B23D1571F7F}"/>
              </a:ext>
            </a:extLst>
          </p:cNvPr>
          <p:cNvSpPr txBox="1"/>
          <p:nvPr/>
        </p:nvSpPr>
        <p:spPr>
          <a:xfrm>
            <a:off x="508000" y="12700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</a:rPr>
              <a:t>Urban Ghost Kitchen operates 25 delivery-only kitchens serving 1,000 customers through an app-based ordering platform. Leadership needs a data-driven view of performance, cancellations and demand patterns to guide operational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6FE42-AE5D-293B-0448-E19694915A23}"/>
              </a:ext>
            </a:extLst>
          </p:cNvPr>
          <p:cNvSpPr txBox="1"/>
          <p:nvPr/>
        </p:nvSpPr>
        <p:spPr>
          <a:xfrm>
            <a:off x="508000" y="23495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Calibri" panose="020F0502020204030204" pitchFamily="34" charset="0"/>
              </a:rPr>
              <a:t>Key Business 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3FE5A2-C0D0-74E9-5956-A318BABF8779}"/>
              </a:ext>
            </a:extLst>
          </p:cNvPr>
          <p:cNvSpPr txBox="1"/>
          <p:nvPr/>
        </p:nvSpPr>
        <p:spPr>
          <a:xfrm>
            <a:off x="508000" y="2743200"/>
            <a:ext cx="11176000" cy="18928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Calibri" panose="020F0502020204030204" pitchFamily="34" charset="0"/>
              </a:rPr>
              <a:t>•  Which kitchens generate the highest order volume and revenue?</a:t>
            </a:r>
          </a:p>
          <a:p>
            <a:endParaRPr lang="en-US" sz="13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Calibri" panose="020F0502020204030204" pitchFamily="34" charset="0"/>
              </a:rPr>
              <a:t>•  What factors are driving order cancellations across the platform?</a:t>
            </a:r>
          </a:p>
          <a:p>
            <a:endParaRPr lang="en-US" sz="13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Calibri" panose="020F0502020204030204" pitchFamily="34" charset="0"/>
              </a:rPr>
              <a:t>•  Which menu categories and items contribute most to revenue?</a:t>
            </a:r>
          </a:p>
          <a:p>
            <a:endParaRPr lang="en-US" sz="13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Calibri" panose="020F0502020204030204" pitchFamily="34" charset="0"/>
              </a:rPr>
              <a:t>•  When does customer demand peak, and how does that affect delivery time?</a:t>
            </a:r>
          </a:p>
          <a:p>
            <a:endParaRPr lang="en-US" sz="13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Calibri" panose="020F0502020204030204" pitchFamily="34" charset="0"/>
              </a:rPr>
              <a:t>•  Are new customers more likely to cancel than returning customers?</a:t>
            </a:r>
          </a:p>
        </p:txBody>
      </p:sp>
    </p:spTree>
    <p:extLst>
      <p:ext uri="{BB962C8B-B14F-4D97-AF65-F5344CB8AC3E}">
        <p14:creationId xmlns:p14="http://schemas.microsoft.com/office/powerpoint/2010/main" val="129452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E099E-0C56-8BB6-95D0-9CDFC2FEB901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Dataset &amp; Data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7E59DE-4438-BB40-0677-330815BA4D43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383DFD-2E2B-22D0-E0F4-D5A1D8547975}"/>
              </a:ext>
            </a:extLst>
          </p:cNvPr>
          <p:cNvSpPr/>
          <p:nvPr/>
        </p:nvSpPr>
        <p:spPr>
          <a:xfrm>
            <a:off x="508000" y="1270000"/>
            <a:ext cx="2603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177662-72C1-0D1C-37ED-8A0937680E0F}"/>
              </a:ext>
            </a:extLst>
          </p:cNvPr>
          <p:cNvSpPr/>
          <p:nvPr/>
        </p:nvSpPr>
        <p:spPr>
          <a:xfrm>
            <a:off x="508000" y="1270000"/>
            <a:ext cx="26035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6250C2-5901-81AA-688D-CF957EB307B1}"/>
              </a:ext>
            </a:extLst>
          </p:cNvPr>
          <p:cNvSpPr txBox="1"/>
          <p:nvPr/>
        </p:nvSpPr>
        <p:spPr>
          <a:xfrm>
            <a:off x="660400" y="1435100"/>
            <a:ext cx="2298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CUSTOMERS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587D0-2D46-C58A-1C96-DD05F9DC6C06}"/>
              </a:ext>
            </a:extLst>
          </p:cNvPr>
          <p:cNvSpPr txBox="1"/>
          <p:nvPr/>
        </p:nvSpPr>
        <p:spPr>
          <a:xfrm>
            <a:off x="660400" y="1651000"/>
            <a:ext cx="2298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1,000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A352F-4EAC-C12F-67EE-08FFBE181E81}"/>
              </a:ext>
            </a:extLst>
          </p:cNvPr>
          <p:cNvSpPr txBox="1"/>
          <p:nvPr/>
        </p:nvSpPr>
        <p:spPr>
          <a:xfrm>
            <a:off x="660400" y="2133600"/>
            <a:ext cx="22987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Master customer records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579F80-7ACB-B2E6-10F2-E54362DB596F}"/>
              </a:ext>
            </a:extLst>
          </p:cNvPr>
          <p:cNvSpPr/>
          <p:nvPr/>
        </p:nvSpPr>
        <p:spPr>
          <a:xfrm>
            <a:off x="3302000" y="1270000"/>
            <a:ext cx="2603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D8023-F4C3-A38F-AE1A-A3B9180E84A7}"/>
              </a:ext>
            </a:extLst>
          </p:cNvPr>
          <p:cNvSpPr/>
          <p:nvPr/>
        </p:nvSpPr>
        <p:spPr>
          <a:xfrm>
            <a:off x="3302000" y="1270000"/>
            <a:ext cx="26035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7C714-3C1B-BEEF-9CA3-10C2591FBD8C}"/>
              </a:ext>
            </a:extLst>
          </p:cNvPr>
          <p:cNvSpPr txBox="1"/>
          <p:nvPr/>
        </p:nvSpPr>
        <p:spPr>
          <a:xfrm>
            <a:off x="3454400" y="1435100"/>
            <a:ext cx="2298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KITCHENS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832834-4B5D-1F67-E4F7-16F01391A0AD}"/>
              </a:ext>
            </a:extLst>
          </p:cNvPr>
          <p:cNvSpPr txBox="1"/>
          <p:nvPr/>
        </p:nvSpPr>
        <p:spPr>
          <a:xfrm>
            <a:off x="3454400" y="1651000"/>
            <a:ext cx="2298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B36C7-5A7E-C9C8-5CE3-1FBF880E2F2A}"/>
              </a:ext>
            </a:extLst>
          </p:cNvPr>
          <p:cNvSpPr txBox="1"/>
          <p:nvPr/>
        </p:nvSpPr>
        <p:spPr>
          <a:xfrm>
            <a:off x="3454400" y="2133600"/>
            <a:ext cx="22987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Active delivery-only kitchens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25C75C-323E-4B63-4EB7-FED03220D4EF}"/>
              </a:ext>
            </a:extLst>
          </p:cNvPr>
          <p:cNvSpPr/>
          <p:nvPr/>
        </p:nvSpPr>
        <p:spPr>
          <a:xfrm>
            <a:off x="6096000" y="1270000"/>
            <a:ext cx="2603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8D5DDA-A07A-692A-C4F3-3771011896C5}"/>
              </a:ext>
            </a:extLst>
          </p:cNvPr>
          <p:cNvSpPr/>
          <p:nvPr/>
        </p:nvSpPr>
        <p:spPr>
          <a:xfrm>
            <a:off x="6096000" y="1270000"/>
            <a:ext cx="26035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8C02FC-91DF-C764-9B91-C14C7C7A86D4}"/>
              </a:ext>
            </a:extLst>
          </p:cNvPr>
          <p:cNvSpPr txBox="1"/>
          <p:nvPr/>
        </p:nvSpPr>
        <p:spPr>
          <a:xfrm>
            <a:off x="6248400" y="1435100"/>
            <a:ext cx="2298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ORDERS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0DCB03-1776-A1FF-F6E3-7B1776B09BC7}"/>
              </a:ext>
            </a:extLst>
          </p:cNvPr>
          <p:cNvSpPr txBox="1"/>
          <p:nvPr/>
        </p:nvSpPr>
        <p:spPr>
          <a:xfrm>
            <a:off x="6248400" y="1651000"/>
            <a:ext cx="2298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20,000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48E07E-85A5-D20E-3B6B-CCBE688F3D37}"/>
              </a:ext>
            </a:extLst>
          </p:cNvPr>
          <p:cNvSpPr txBox="1"/>
          <p:nvPr/>
        </p:nvSpPr>
        <p:spPr>
          <a:xfrm>
            <a:off x="6248400" y="2133600"/>
            <a:ext cx="22987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Total logged orders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24163-FE98-41E2-CF28-E7D2A5752A6C}"/>
              </a:ext>
            </a:extLst>
          </p:cNvPr>
          <p:cNvSpPr/>
          <p:nvPr/>
        </p:nvSpPr>
        <p:spPr>
          <a:xfrm>
            <a:off x="8890000" y="1270000"/>
            <a:ext cx="2603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FC91E4-B5C8-F1E0-4E4E-B1E4F9A4EA41}"/>
              </a:ext>
            </a:extLst>
          </p:cNvPr>
          <p:cNvSpPr/>
          <p:nvPr/>
        </p:nvSpPr>
        <p:spPr>
          <a:xfrm>
            <a:off x="8890000" y="1270000"/>
            <a:ext cx="26035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D4F941-04A6-DA6D-CDE6-65894685A3A9}"/>
              </a:ext>
            </a:extLst>
          </p:cNvPr>
          <p:cNvSpPr txBox="1"/>
          <p:nvPr/>
        </p:nvSpPr>
        <p:spPr>
          <a:xfrm>
            <a:off x="9042400" y="1435100"/>
            <a:ext cx="2298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MENU 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811808-432E-4062-714E-D69BF472EC5A}"/>
              </a:ext>
            </a:extLst>
          </p:cNvPr>
          <p:cNvSpPr txBox="1"/>
          <p:nvPr/>
        </p:nvSpPr>
        <p:spPr>
          <a:xfrm>
            <a:off x="9042400" y="1651000"/>
            <a:ext cx="2298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45,000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D4A3C0-5DDC-F3F5-BA68-72E10C4F41F0}"/>
              </a:ext>
            </a:extLst>
          </p:cNvPr>
          <p:cNvSpPr txBox="1"/>
          <p:nvPr/>
        </p:nvSpPr>
        <p:spPr>
          <a:xfrm>
            <a:off x="9042400" y="2133600"/>
            <a:ext cx="22987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Item-level order records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D0369B-D329-2CB2-52C1-6C06BF070E2F}"/>
              </a:ext>
            </a:extLst>
          </p:cNvPr>
          <p:cNvSpPr txBox="1"/>
          <p:nvPr/>
        </p:nvSpPr>
        <p:spPr>
          <a:xfrm>
            <a:off x="508000" y="26416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Calibri" panose="020F0502020204030204" pitchFamily="34" charset="0"/>
              </a:rPr>
              <a:t>Relational Data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8101C6-6FF6-3401-950B-5D2402B0E34A}"/>
              </a:ext>
            </a:extLst>
          </p:cNvPr>
          <p:cNvSpPr/>
          <p:nvPr/>
        </p:nvSpPr>
        <p:spPr>
          <a:xfrm>
            <a:off x="762000" y="3175000"/>
            <a:ext cx="2286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F172A"/>
                </a:solidFill>
                <a:latin typeface="Calibri" panose="020F0502020204030204" pitchFamily="34" charset="0"/>
              </a:rPr>
              <a:t>CUSTOMERS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A648E7-0BD8-8DA9-CBF0-7C8750E88B5F}"/>
              </a:ext>
            </a:extLst>
          </p:cNvPr>
          <p:cNvSpPr/>
          <p:nvPr/>
        </p:nvSpPr>
        <p:spPr>
          <a:xfrm>
            <a:off x="4826000" y="3175000"/>
            <a:ext cx="2286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F172A"/>
                </a:solidFill>
                <a:latin typeface="Calibri" panose="020F0502020204030204" pitchFamily="34" charset="0"/>
              </a:rPr>
              <a:t>ORDERS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184FD3-6B11-B94C-4765-3F32A3813A59}"/>
              </a:ext>
            </a:extLst>
          </p:cNvPr>
          <p:cNvSpPr/>
          <p:nvPr/>
        </p:nvSpPr>
        <p:spPr>
          <a:xfrm>
            <a:off x="8890000" y="3175000"/>
            <a:ext cx="2286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F172A"/>
                </a:solidFill>
                <a:latin typeface="Calibri" panose="020F0502020204030204" pitchFamily="34" charset="0"/>
              </a:rPr>
              <a:t>KITCHENS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9379AD-D530-9F8E-55AC-3D40B259BE9F}"/>
              </a:ext>
            </a:extLst>
          </p:cNvPr>
          <p:cNvSpPr/>
          <p:nvPr/>
        </p:nvSpPr>
        <p:spPr>
          <a:xfrm>
            <a:off x="4826000" y="4953000"/>
            <a:ext cx="2286000" cy="76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F172A"/>
                </a:solidFill>
                <a:latin typeface="Calibri" panose="020F0502020204030204" pitchFamily="34" charset="0"/>
              </a:rPr>
              <a:t>MENU ITEMS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CC6A58B-017B-4F0F-FCD5-40FE27B80B6A}"/>
              </a:ext>
            </a:extLst>
          </p:cNvPr>
          <p:cNvCxnSpPr/>
          <p:nvPr/>
        </p:nvCxnSpPr>
        <p:spPr>
          <a:xfrm>
            <a:off x="3048000" y="3556000"/>
            <a:ext cx="17780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D47AF9-EE49-470E-3463-0F444C863272}"/>
              </a:ext>
            </a:extLst>
          </p:cNvPr>
          <p:cNvCxnSpPr/>
          <p:nvPr/>
        </p:nvCxnSpPr>
        <p:spPr>
          <a:xfrm flipH="1">
            <a:off x="7112000" y="3556000"/>
            <a:ext cx="17780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8F3EA1-4D3A-D443-BCF5-5BF8C8BFF919}"/>
              </a:ext>
            </a:extLst>
          </p:cNvPr>
          <p:cNvCxnSpPr/>
          <p:nvPr/>
        </p:nvCxnSpPr>
        <p:spPr>
          <a:xfrm>
            <a:off x="5969000" y="3937000"/>
            <a:ext cx="0" cy="101600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F3B46A6-E2CD-4EB9-7FAC-E46ED3111D33}"/>
              </a:ext>
            </a:extLst>
          </p:cNvPr>
          <p:cNvSpPr txBox="1"/>
          <p:nvPr/>
        </p:nvSpPr>
        <p:spPr>
          <a:xfrm>
            <a:off x="3302000" y="32766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1 : 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E01469-18E4-FD47-B3ED-5E64F08590B9}"/>
              </a:ext>
            </a:extLst>
          </p:cNvPr>
          <p:cNvSpPr txBox="1"/>
          <p:nvPr/>
        </p:nvSpPr>
        <p:spPr>
          <a:xfrm>
            <a:off x="7493000" y="32766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M :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A0BB5C-24D4-AC39-44D1-EBBD4B23B36F}"/>
              </a:ext>
            </a:extLst>
          </p:cNvPr>
          <p:cNvSpPr txBox="1"/>
          <p:nvPr/>
        </p:nvSpPr>
        <p:spPr>
          <a:xfrm>
            <a:off x="6223000" y="43180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1 : M</a:t>
            </a:r>
          </a:p>
        </p:txBody>
      </p:sp>
    </p:spTree>
    <p:extLst>
      <p:ext uri="{BB962C8B-B14F-4D97-AF65-F5344CB8AC3E}">
        <p14:creationId xmlns:p14="http://schemas.microsoft.com/office/powerpoint/2010/main" val="1923306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DA87EA-63E2-1C11-161D-89B98069FD28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Analytics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FE5BC3-3E43-EDA5-D056-6AF7A89C0A9D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69758E-8144-D5C7-B402-4739C30FB619}"/>
              </a:ext>
            </a:extLst>
          </p:cNvPr>
          <p:cNvSpPr/>
          <p:nvPr/>
        </p:nvSpPr>
        <p:spPr>
          <a:xfrm>
            <a:off x="508000" y="3048000"/>
            <a:ext cx="12065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Raw CSV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44DC61-CFA0-E6CD-2CF6-C826627D119B}"/>
              </a:ext>
            </a:extLst>
          </p:cNvPr>
          <p:cNvCxnSpPr/>
          <p:nvPr/>
        </p:nvCxnSpPr>
        <p:spPr>
          <a:xfrm>
            <a:off x="1714500" y="3492500"/>
            <a:ext cx="1905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26BF13C-8D2F-19CE-37EA-E23755FA706B}"/>
              </a:ext>
            </a:extLst>
          </p:cNvPr>
          <p:cNvSpPr/>
          <p:nvPr/>
        </p:nvSpPr>
        <p:spPr>
          <a:xfrm>
            <a:off x="1905000" y="3048000"/>
            <a:ext cx="12065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Profiling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D583B5-7E02-DD76-B092-6EC97A841DA1}"/>
              </a:ext>
            </a:extLst>
          </p:cNvPr>
          <p:cNvCxnSpPr/>
          <p:nvPr/>
        </p:nvCxnSpPr>
        <p:spPr>
          <a:xfrm>
            <a:off x="3111500" y="3492500"/>
            <a:ext cx="1905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47A4D1C-B7D8-BF44-B653-B361E691E5D5}"/>
              </a:ext>
            </a:extLst>
          </p:cNvPr>
          <p:cNvSpPr/>
          <p:nvPr/>
        </p:nvSpPr>
        <p:spPr>
          <a:xfrm>
            <a:off x="3302000" y="3048000"/>
            <a:ext cx="12065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Cleaning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681D3F-3569-C111-BD53-2AEA3740C135}"/>
              </a:ext>
            </a:extLst>
          </p:cNvPr>
          <p:cNvCxnSpPr/>
          <p:nvPr/>
        </p:nvCxnSpPr>
        <p:spPr>
          <a:xfrm>
            <a:off x="4508500" y="3492500"/>
            <a:ext cx="1905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36C16D-BB8A-166A-5489-BC4AA1F72891}"/>
              </a:ext>
            </a:extLst>
          </p:cNvPr>
          <p:cNvSpPr/>
          <p:nvPr/>
        </p:nvSpPr>
        <p:spPr>
          <a:xfrm>
            <a:off x="4699000" y="3048000"/>
            <a:ext cx="12065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Feature</a:t>
            </a:r>
          </a:p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Engineering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69350-D434-6236-6FCF-C5C28851E04A}"/>
              </a:ext>
            </a:extLst>
          </p:cNvPr>
          <p:cNvCxnSpPr/>
          <p:nvPr/>
        </p:nvCxnSpPr>
        <p:spPr>
          <a:xfrm>
            <a:off x="5905500" y="3492500"/>
            <a:ext cx="1905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3794750-7A9E-FF46-891B-FB95EE828705}"/>
              </a:ext>
            </a:extLst>
          </p:cNvPr>
          <p:cNvSpPr/>
          <p:nvPr/>
        </p:nvSpPr>
        <p:spPr>
          <a:xfrm>
            <a:off x="6096000" y="3048000"/>
            <a:ext cx="12065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MySQL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D5FFFF-9107-81FB-6345-C587ADEA386B}"/>
              </a:ext>
            </a:extLst>
          </p:cNvPr>
          <p:cNvCxnSpPr/>
          <p:nvPr/>
        </p:nvCxnSpPr>
        <p:spPr>
          <a:xfrm>
            <a:off x="7302500" y="3492500"/>
            <a:ext cx="1905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929C3E8-A9AA-C884-B8A6-DE3833EA6227}"/>
              </a:ext>
            </a:extLst>
          </p:cNvPr>
          <p:cNvSpPr/>
          <p:nvPr/>
        </p:nvSpPr>
        <p:spPr>
          <a:xfrm>
            <a:off x="7493000" y="3048000"/>
            <a:ext cx="12065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SQL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09A93D-2542-A0FB-B529-052EB49F7991}"/>
              </a:ext>
            </a:extLst>
          </p:cNvPr>
          <p:cNvCxnSpPr/>
          <p:nvPr/>
        </p:nvCxnSpPr>
        <p:spPr>
          <a:xfrm>
            <a:off x="8699500" y="3492500"/>
            <a:ext cx="1905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783519A-75B4-B1EA-4619-E78AE1942E86}"/>
              </a:ext>
            </a:extLst>
          </p:cNvPr>
          <p:cNvSpPr/>
          <p:nvPr/>
        </p:nvSpPr>
        <p:spPr>
          <a:xfrm>
            <a:off x="8890000" y="3048000"/>
            <a:ext cx="12065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Python</a:t>
            </a:r>
          </a:p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Validation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2CD29E-156E-A421-4A6B-6ACF2F9FBE25}"/>
              </a:ext>
            </a:extLst>
          </p:cNvPr>
          <p:cNvCxnSpPr/>
          <p:nvPr/>
        </p:nvCxnSpPr>
        <p:spPr>
          <a:xfrm>
            <a:off x="10096500" y="3492500"/>
            <a:ext cx="190500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01AAC43-4333-F351-AB34-E60484363E97}"/>
              </a:ext>
            </a:extLst>
          </p:cNvPr>
          <p:cNvSpPr/>
          <p:nvPr/>
        </p:nvSpPr>
        <p:spPr>
          <a:xfrm>
            <a:off x="10287000" y="3048000"/>
            <a:ext cx="12065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Calibri" panose="020F0502020204030204" pitchFamily="34" charset="0"/>
              </a:rPr>
              <a:t>Insights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81DBC-2C1A-2DAB-F6F7-476CB838881A}"/>
              </a:ext>
            </a:extLst>
          </p:cNvPr>
          <p:cNvSpPr txBox="1"/>
          <p:nvPr/>
        </p:nvSpPr>
        <p:spPr>
          <a:xfrm>
            <a:off x="508000" y="4318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Calibri" panose="020F0502020204030204" pitchFamily="34" charset="0"/>
              </a:rPr>
              <a:t>Each stage is version-controlled and validated before moving to the next: raw data is profiled, cleaned and enriched in Python/Pandas, loaded into MySQL, queried with SQL, and validated back in Python before insights are drawn.</a:t>
            </a:r>
          </a:p>
        </p:txBody>
      </p:sp>
    </p:spTree>
    <p:extLst>
      <p:ext uri="{BB962C8B-B14F-4D97-AF65-F5344CB8AC3E}">
        <p14:creationId xmlns:p14="http://schemas.microsoft.com/office/powerpoint/2010/main" val="236282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2B58F-DBB1-898E-85E5-1E5473CA7957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Data Quality &amp; Preparation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456E00-0DBD-6319-D4D6-4ADE906C3AB4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825BD-E3E3-F839-F931-1F1CAD0D3F39}"/>
              </a:ext>
            </a:extLst>
          </p:cNvPr>
          <p:cNvSpPr txBox="1"/>
          <p:nvPr/>
        </p:nvSpPr>
        <p:spPr>
          <a:xfrm>
            <a:off x="508000" y="1270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Calibri" panose="020F0502020204030204" pitchFamily="34" charset="0"/>
              </a:rPr>
              <a:t>Data Quality Issues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C8F3E-8367-0185-DAE4-57AB230EFA72}"/>
              </a:ext>
            </a:extLst>
          </p:cNvPr>
          <p:cNvSpPr txBox="1"/>
          <p:nvPr/>
        </p:nvSpPr>
        <p:spPr>
          <a:xfrm>
            <a:off x="508000" y="1701800"/>
            <a:ext cx="5080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Calibri" panose="020F0502020204030204" pitchFamily="34" charset="0"/>
              </a:rPr>
              <a:t>•  1,000 customers exist in the master data, but only 980 unique customers appear in the orders table - a 20-customer gap.</a:t>
            </a:r>
          </a:p>
          <a:p>
            <a:endParaRPr lang="en-US" sz="12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Calibri" panose="020F0502020204030204" pitchFamily="34" charset="0"/>
              </a:rPr>
              <a:t>•  Inconsistent status labels across delivered, cancelled and refunded orders.</a:t>
            </a:r>
          </a:p>
          <a:p>
            <a:endParaRPr lang="en-US" sz="12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Calibri" panose="020F0502020204030204" pitchFamily="34" charset="0"/>
              </a:rPr>
              <a:t>•  Missing or partial timestamps affecting delivery-time calculations.</a:t>
            </a:r>
          </a:p>
          <a:p>
            <a:endParaRPr lang="en-US" sz="12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Calibri" panose="020F0502020204030204" pitchFamily="34" charset="0"/>
              </a:rPr>
              <a:t>•  Duplicate and orphaned menu-item records requiring reconciliation.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687AD-39CC-8BF0-494A-E576985C4AF5}"/>
              </a:ext>
            </a:extLst>
          </p:cNvPr>
          <p:cNvSpPr txBox="1"/>
          <p:nvPr/>
        </p:nvSpPr>
        <p:spPr>
          <a:xfrm>
            <a:off x="6096000" y="12700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Calibri" panose="020F0502020204030204" pitchFamily="34" charset="0"/>
              </a:rPr>
              <a:t>Cleaning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61F01-189E-1A86-9F93-4483C84BFB45}"/>
              </a:ext>
            </a:extLst>
          </p:cNvPr>
          <p:cNvSpPr txBox="1"/>
          <p:nvPr/>
        </p:nvSpPr>
        <p:spPr>
          <a:xfrm>
            <a:off x="6096000" y="1701800"/>
            <a:ext cx="5080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•  Standardized order-status categories into Delivered, Cancelled and Refunded.</a:t>
            </a:r>
          </a:p>
          <a:p>
            <a:endParaRPr lang="en-US" sz="120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•  Removed duplicate records and validated primary/foreign key integrity.</a:t>
            </a:r>
          </a:p>
          <a:p>
            <a:endParaRPr lang="en-US" sz="120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•  Reconciled the customer master table against the orders table.</a:t>
            </a:r>
          </a:p>
          <a:p>
            <a:endParaRPr lang="en-US" sz="1200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</a:rPr>
              <a:t>•  Validated the cleaned dataset in Python before loading it into MySQL.</a:t>
            </a:r>
          </a:p>
        </p:txBody>
      </p:sp>
    </p:spTree>
    <p:extLst>
      <p:ext uri="{BB962C8B-B14F-4D97-AF65-F5344CB8AC3E}">
        <p14:creationId xmlns:p14="http://schemas.microsoft.com/office/powerpoint/2010/main" val="780989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27C188-95FB-3127-F3D8-931896EF9DFC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Overall Business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82F48-85B8-DF6D-909D-650846F47C8A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E6136-A6BE-484F-FB4F-DE5BE3942057}"/>
              </a:ext>
            </a:extLst>
          </p:cNvPr>
          <p:cNvSpPr/>
          <p:nvPr/>
        </p:nvSpPr>
        <p:spPr>
          <a:xfrm>
            <a:off x="508000" y="1270000"/>
            <a:ext cx="2082800" cy="12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ADADEA-E2B7-8B65-C1F5-3D1CBBCBD126}"/>
              </a:ext>
            </a:extLst>
          </p:cNvPr>
          <p:cNvSpPr/>
          <p:nvPr/>
        </p:nvSpPr>
        <p:spPr>
          <a:xfrm>
            <a:off x="508000" y="1270000"/>
            <a:ext cx="2082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22BEC-6CE5-75DE-FC1E-28F8A9539DC7}"/>
              </a:ext>
            </a:extLst>
          </p:cNvPr>
          <p:cNvSpPr txBox="1"/>
          <p:nvPr/>
        </p:nvSpPr>
        <p:spPr>
          <a:xfrm>
            <a:off x="660400" y="14351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TOTAL ORDERS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B532E-CA50-E606-B259-BCCB9573BA04}"/>
              </a:ext>
            </a:extLst>
          </p:cNvPr>
          <p:cNvSpPr txBox="1"/>
          <p:nvPr/>
        </p:nvSpPr>
        <p:spPr>
          <a:xfrm>
            <a:off x="660400" y="1651000"/>
            <a:ext cx="177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20,000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B6A52B-40E7-8CC4-A754-D52C3B493C0A}"/>
              </a:ext>
            </a:extLst>
          </p:cNvPr>
          <p:cNvSpPr/>
          <p:nvPr/>
        </p:nvSpPr>
        <p:spPr>
          <a:xfrm>
            <a:off x="2743200" y="1270000"/>
            <a:ext cx="2082800" cy="12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3B3AE7-E64A-F7CF-5F55-55729EF7D19A}"/>
              </a:ext>
            </a:extLst>
          </p:cNvPr>
          <p:cNvSpPr/>
          <p:nvPr/>
        </p:nvSpPr>
        <p:spPr>
          <a:xfrm>
            <a:off x="2743200" y="1270000"/>
            <a:ext cx="20828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C36C10-F2C5-160F-FE34-FD170426F03E}"/>
              </a:ext>
            </a:extLst>
          </p:cNvPr>
          <p:cNvSpPr txBox="1"/>
          <p:nvPr/>
        </p:nvSpPr>
        <p:spPr>
          <a:xfrm>
            <a:off x="2895600" y="14351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DELIVERED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B547B-12E9-E11E-7E69-FF2E67851042}"/>
              </a:ext>
            </a:extLst>
          </p:cNvPr>
          <p:cNvSpPr txBox="1"/>
          <p:nvPr/>
        </p:nvSpPr>
        <p:spPr>
          <a:xfrm>
            <a:off x="2895600" y="1651000"/>
            <a:ext cx="177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17,162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E42FF-9E55-FD99-4662-482701E0FA0F}"/>
              </a:ext>
            </a:extLst>
          </p:cNvPr>
          <p:cNvSpPr txBox="1"/>
          <p:nvPr/>
        </p:nvSpPr>
        <p:spPr>
          <a:xfrm>
            <a:off x="2895600" y="2260600"/>
            <a:ext cx="177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85.8% of total 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E9BE96-71E7-97C6-8F04-2EBABEE67D8D}"/>
              </a:ext>
            </a:extLst>
          </p:cNvPr>
          <p:cNvSpPr/>
          <p:nvPr/>
        </p:nvSpPr>
        <p:spPr>
          <a:xfrm>
            <a:off x="4978400" y="1270000"/>
            <a:ext cx="2082800" cy="12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E47B90-4A15-542E-3222-0347D878F44D}"/>
              </a:ext>
            </a:extLst>
          </p:cNvPr>
          <p:cNvSpPr/>
          <p:nvPr/>
        </p:nvSpPr>
        <p:spPr>
          <a:xfrm>
            <a:off x="4978400" y="1270000"/>
            <a:ext cx="2082800" cy="50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CF248D-EF0E-E968-5C88-9F164748E818}"/>
              </a:ext>
            </a:extLst>
          </p:cNvPr>
          <p:cNvSpPr txBox="1"/>
          <p:nvPr/>
        </p:nvSpPr>
        <p:spPr>
          <a:xfrm>
            <a:off x="5130800" y="14351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CANCELLED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0FC276-D169-2BAB-4F85-2DBF2971923A}"/>
              </a:ext>
            </a:extLst>
          </p:cNvPr>
          <p:cNvSpPr txBox="1"/>
          <p:nvPr/>
        </p:nvSpPr>
        <p:spPr>
          <a:xfrm>
            <a:off x="5130800" y="1651000"/>
            <a:ext cx="177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2,038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9E5573-33EC-B0E1-A76E-4DC553FEF5B7}"/>
              </a:ext>
            </a:extLst>
          </p:cNvPr>
          <p:cNvSpPr txBox="1"/>
          <p:nvPr/>
        </p:nvSpPr>
        <p:spPr>
          <a:xfrm>
            <a:off x="5130800" y="2260600"/>
            <a:ext cx="177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10.19% cancellation rate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0CD229-189E-B491-0E1E-8DC498DE05FC}"/>
              </a:ext>
            </a:extLst>
          </p:cNvPr>
          <p:cNvSpPr/>
          <p:nvPr/>
        </p:nvSpPr>
        <p:spPr>
          <a:xfrm>
            <a:off x="7213600" y="1270000"/>
            <a:ext cx="2082800" cy="12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F700B1-819A-4108-8CDC-4E24DF281D13}"/>
              </a:ext>
            </a:extLst>
          </p:cNvPr>
          <p:cNvSpPr/>
          <p:nvPr/>
        </p:nvSpPr>
        <p:spPr>
          <a:xfrm>
            <a:off x="7213600" y="1270000"/>
            <a:ext cx="20828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84AFC-8F96-693E-04D2-E4C86829D0EB}"/>
              </a:ext>
            </a:extLst>
          </p:cNvPr>
          <p:cNvSpPr txBox="1"/>
          <p:nvPr/>
        </p:nvSpPr>
        <p:spPr>
          <a:xfrm>
            <a:off x="7366000" y="14351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REFUNDED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B5E0D7-B7BB-C339-E41D-B18A59A49D4E}"/>
              </a:ext>
            </a:extLst>
          </p:cNvPr>
          <p:cNvSpPr txBox="1"/>
          <p:nvPr/>
        </p:nvSpPr>
        <p:spPr>
          <a:xfrm>
            <a:off x="7366000" y="1651000"/>
            <a:ext cx="177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800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CB389D-83A9-FFC9-65F4-35E8F19587DC}"/>
              </a:ext>
            </a:extLst>
          </p:cNvPr>
          <p:cNvSpPr txBox="1"/>
          <p:nvPr/>
        </p:nvSpPr>
        <p:spPr>
          <a:xfrm>
            <a:off x="7366000" y="2260600"/>
            <a:ext cx="177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4.0% of total orders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3F2582-9740-A8C5-1976-2E9BBAB69366}"/>
              </a:ext>
            </a:extLst>
          </p:cNvPr>
          <p:cNvSpPr/>
          <p:nvPr/>
        </p:nvSpPr>
        <p:spPr>
          <a:xfrm>
            <a:off x="9448800" y="1270000"/>
            <a:ext cx="2082800" cy="12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880230-C0DE-7A7B-7B3A-E5D7E53DECE4}"/>
              </a:ext>
            </a:extLst>
          </p:cNvPr>
          <p:cNvSpPr/>
          <p:nvPr/>
        </p:nvSpPr>
        <p:spPr>
          <a:xfrm>
            <a:off x="9448800" y="1270000"/>
            <a:ext cx="2082800" cy="50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A16593-6B86-C742-32E2-2CB5ECD98F9A}"/>
              </a:ext>
            </a:extLst>
          </p:cNvPr>
          <p:cNvSpPr txBox="1"/>
          <p:nvPr/>
        </p:nvSpPr>
        <p:spPr>
          <a:xfrm>
            <a:off x="9601200" y="1435100"/>
            <a:ext cx="177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CANCELLATION RATE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AC6DED-BD52-40D5-74B7-32B1199D4E51}"/>
              </a:ext>
            </a:extLst>
          </p:cNvPr>
          <p:cNvSpPr txBox="1"/>
          <p:nvPr/>
        </p:nvSpPr>
        <p:spPr>
          <a:xfrm>
            <a:off x="9601200" y="1651000"/>
            <a:ext cx="177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10.19%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6FEDA4-B834-9D34-BA9D-E05C697383A5}"/>
              </a:ext>
            </a:extLst>
          </p:cNvPr>
          <p:cNvSpPr/>
          <p:nvPr/>
        </p:nvSpPr>
        <p:spPr>
          <a:xfrm>
            <a:off x="508000" y="2857500"/>
            <a:ext cx="11176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/>
              <a:t>Delivered → 85.81%</a:t>
            </a:r>
            <a:r>
              <a:rPr lang="en-US"/>
              <a:t> </a:t>
            </a:r>
          </a:p>
          <a:p>
            <a:pPr lvl="0"/>
            <a:r>
              <a:rPr lang="en-US" b="1"/>
              <a:t>Cancelled → 10.19%</a:t>
            </a:r>
            <a:r>
              <a:rPr lang="en-US"/>
              <a:t> </a:t>
            </a:r>
          </a:p>
          <a:p>
            <a:pPr lvl="0"/>
            <a:r>
              <a:rPr lang="en-US" b="1"/>
              <a:t>Refunded → 4.00%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A30E48-FA60-B7E9-584D-B2ED62BFBA37}"/>
              </a:ext>
            </a:extLst>
          </p:cNvPr>
          <p:cNvSpPr txBox="1"/>
          <p:nvPr/>
        </p:nvSpPr>
        <p:spPr>
          <a:xfrm>
            <a:off x="660400" y="2984500"/>
            <a:ext cx="10871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563EB"/>
                </a:solidFill>
                <a:latin typeface="Calibri" panose="020F0502020204030204" pitchFamily="34" charset="0"/>
              </a:rPr>
              <a:t>Order Status Distribution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788FB32-F970-4C8F-FBAC-56A3F50A1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574" y="3029974"/>
            <a:ext cx="4100051" cy="325652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4A763EF-8CE0-336F-B92F-B131D6D6472F}"/>
              </a:ext>
            </a:extLst>
          </p:cNvPr>
          <p:cNvSpPr txBox="1"/>
          <p:nvPr/>
        </p:nvSpPr>
        <p:spPr>
          <a:xfrm>
            <a:off x="7755965" y="3877052"/>
            <a:ext cx="2383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Delivered → 85.81%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Cancelled → 10.19%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Refunded → 4.00%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94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6FCB7-0585-2AD7-58AC-B9E9311DB18F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Kitchen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53A161-855D-E1FD-380C-5D352886E7FE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13B39A-BF82-6190-0F69-5828489B7571}"/>
              </a:ext>
            </a:extLst>
          </p:cNvPr>
          <p:cNvSpPr/>
          <p:nvPr/>
        </p:nvSpPr>
        <p:spPr>
          <a:xfrm>
            <a:off x="508000" y="1270000"/>
            <a:ext cx="2603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2640A-28B6-38C0-7DE4-D0D018487C87}"/>
              </a:ext>
            </a:extLst>
          </p:cNvPr>
          <p:cNvSpPr/>
          <p:nvPr/>
        </p:nvSpPr>
        <p:spPr>
          <a:xfrm>
            <a:off x="508000" y="1270000"/>
            <a:ext cx="26035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CCB2D-E269-E868-EEF9-78EF7F08508E}"/>
              </a:ext>
            </a:extLst>
          </p:cNvPr>
          <p:cNvSpPr txBox="1"/>
          <p:nvPr/>
        </p:nvSpPr>
        <p:spPr>
          <a:xfrm>
            <a:off x="660400" y="1435100"/>
            <a:ext cx="2298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TOP KITCHEN BY ORDERS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CEF175-AC6B-5693-D111-9EB8FF6C3170}"/>
              </a:ext>
            </a:extLst>
          </p:cNvPr>
          <p:cNvSpPr txBox="1"/>
          <p:nvPr/>
        </p:nvSpPr>
        <p:spPr>
          <a:xfrm>
            <a:off x="660400" y="1651000"/>
            <a:ext cx="2298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KIT-002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07FA0-6D75-273D-9261-FE8BDC3B3A86}"/>
              </a:ext>
            </a:extLst>
          </p:cNvPr>
          <p:cNvSpPr txBox="1"/>
          <p:nvPr/>
        </p:nvSpPr>
        <p:spPr>
          <a:xfrm>
            <a:off x="660400" y="2133600"/>
            <a:ext cx="22987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Highest order volume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5D4C38-5FCC-4D0F-2DA4-D24498AFAA9D}"/>
              </a:ext>
            </a:extLst>
          </p:cNvPr>
          <p:cNvSpPr/>
          <p:nvPr/>
        </p:nvSpPr>
        <p:spPr>
          <a:xfrm>
            <a:off x="3302000" y="1270000"/>
            <a:ext cx="2603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D147AA-1199-9D54-F099-35D447099767}"/>
              </a:ext>
            </a:extLst>
          </p:cNvPr>
          <p:cNvSpPr/>
          <p:nvPr/>
        </p:nvSpPr>
        <p:spPr>
          <a:xfrm>
            <a:off x="3302000" y="1270000"/>
            <a:ext cx="26035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0EE39-8E8B-35A2-CE3E-FA191D08A8CD}"/>
              </a:ext>
            </a:extLst>
          </p:cNvPr>
          <p:cNvSpPr txBox="1"/>
          <p:nvPr/>
        </p:nvSpPr>
        <p:spPr>
          <a:xfrm>
            <a:off x="3454400" y="1435100"/>
            <a:ext cx="2298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TOP KITCHEN ORDERS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D0FF93-B0D8-EA46-B535-369E4E346B2E}"/>
              </a:ext>
            </a:extLst>
          </p:cNvPr>
          <p:cNvSpPr txBox="1"/>
          <p:nvPr/>
        </p:nvSpPr>
        <p:spPr>
          <a:xfrm>
            <a:off x="3454400" y="1651000"/>
            <a:ext cx="2298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3,427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1108E-16F3-00D2-EE07-B02C94128D65}"/>
              </a:ext>
            </a:extLst>
          </p:cNvPr>
          <p:cNvSpPr txBox="1"/>
          <p:nvPr/>
        </p:nvSpPr>
        <p:spPr>
          <a:xfrm>
            <a:off x="3454400" y="2133600"/>
            <a:ext cx="22987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KIT-002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0823CC-3F0E-38ED-3804-9E65D51C71B9}"/>
              </a:ext>
            </a:extLst>
          </p:cNvPr>
          <p:cNvSpPr/>
          <p:nvPr/>
        </p:nvSpPr>
        <p:spPr>
          <a:xfrm>
            <a:off x="6096000" y="1270000"/>
            <a:ext cx="2603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9463D3-3A31-BA3B-6457-A2682FBCD44D}"/>
              </a:ext>
            </a:extLst>
          </p:cNvPr>
          <p:cNvSpPr/>
          <p:nvPr/>
        </p:nvSpPr>
        <p:spPr>
          <a:xfrm>
            <a:off x="6096000" y="1270000"/>
            <a:ext cx="26035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F17BA-CE43-D3AF-DD9A-57DAA3CE0459}"/>
              </a:ext>
            </a:extLst>
          </p:cNvPr>
          <p:cNvSpPr txBox="1"/>
          <p:nvPr/>
        </p:nvSpPr>
        <p:spPr>
          <a:xfrm>
            <a:off x="6248400" y="1435100"/>
            <a:ext cx="2298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TOP KITCHEN REVENUE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B62BB5-314D-C1D8-0BC5-88B0ABE3E97E}"/>
              </a:ext>
            </a:extLst>
          </p:cNvPr>
          <p:cNvSpPr txBox="1"/>
          <p:nvPr/>
        </p:nvSpPr>
        <p:spPr>
          <a:xfrm>
            <a:off x="6248400" y="1651000"/>
            <a:ext cx="2298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₹1.95M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C4C630-F321-245C-8DF2-46AD7BE92639}"/>
              </a:ext>
            </a:extLst>
          </p:cNvPr>
          <p:cNvSpPr txBox="1"/>
          <p:nvPr/>
        </p:nvSpPr>
        <p:spPr>
          <a:xfrm>
            <a:off x="6248400" y="2133600"/>
            <a:ext cx="22987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KIT-002 total revenue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F1F589-9BA6-0038-3D9D-CD7BE291FE1A}"/>
              </a:ext>
            </a:extLst>
          </p:cNvPr>
          <p:cNvSpPr/>
          <p:nvPr/>
        </p:nvSpPr>
        <p:spPr>
          <a:xfrm>
            <a:off x="8890000" y="1270000"/>
            <a:ext cx="2603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8F2398-3E74-A829-7EAA-3C44D7E69AED}"/>
              </a:ext>
            </a:extLst>
          </p:cNvPr>
          <p:cNvSpPr/>
          <p:nvPr/>
        </p:nvSpPr>
        <p:spPr>
          <a:xfrm>
            <a:off x="8890000" y="1270000"/>
            <a:ext cx="26035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B84E93-04F1-AC38-3723-FA578E2F4B23}"/>
              </a:ext>
            </a:extLst>
          </p:cNvPr>
          <p:cNvSpPr txBox="1"/>
          <p:nvPr/>
        </p:nvSpPr>
        <p:spPr>
          <a:xfrm>
            <a:off x="9042400" y="1435100"/>
            <a:ext cx="2298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AVG DELIVERY 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F800FD-35D0-99DA-03D0-DD1E00054DBC}"/>
              </a:ext>
            </a:extLst>
          </p:cNvPr>
          <p:cNvSpPr txBox="1"/>
          <p:nvPr/>
        </p:nvSpPr>
        <p:spPr>
          <a:xfrm>
            <a:off x="9042400" y="1651000"/>
            <a:ext cx="2298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29.31 min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BC7EF3-17EC-F62B-E14F-DB264C606EB0}"/>
              </a:ext>
            </a:extLst>
          </p:cNvPr>
          <p:cNvSpPr txBox="1"/>
          <p:nvPr/>
        </p:nvSpPr>
        <p:spPr>
          <a:xfrm>
            <a:off x="9042400" y="2133600"/>
            <a:ext cx="22987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Platform-wide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49FCA5-E56F-B021-E444-C4CDC4815BB2}"/>
              </a:ext>
            </a:extLst>
          </p:cNvPr>
          <p:cNvSpPr/>
          <p:nvPr/>
        </p:nvSpPr>
        <p:spPr>
          <a:xfrm>
            <a:off x="508000" y="2603500"/>
            <a:ext cx="54610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0254FC-96F2-459B-35B9-51EFCFEE4DA0}"/>
              </a:ext>
            </a:extLst>
          </p:cNvPr>
          <p:cNvSpPr txBox="1"/>
          <p:nvPr/>
        </p:nvSpPr>
        <p:spPr>
          <a:xfrm>
            <a:off x="660400" y="2730500"/>
            <a:ext cx="5156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563EB"/>
                </a:solidFill>
                <a:latin typeface="Calibri" panose="020F0502020204030204" pitchFamily="34" charset="0"/>
              </a:rPr>
              <a:t>Orders by Kitchen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00E5-20E2-0AAC-D68E-F199382B5009}"/>
              </a:ext>
            </a:extLst>
          </p:cNvPr>
          <p:cNvSpPr/>
          <p:nvPr/>
        </p:nvSpPr>
        <p:spPr>
          <a:xfrm>
            <a:off x="6223000" y="2603500"/>
            <a:ext cx="54610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4DECD6-BB5D-89D4-3596-5BA73B75C7DF}"/>
              </a:ext>
            </a:extLst>
          </p:cNvPr>
          <p:cNvSpPr txBox="1"/>
          <p:nvPr/>
        </p:nvSpPr>
        <p:spPr>
          <a:xfrm>
            <a:off x="6375400" y="2730500"/>
            <a:ext cx="5156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563EB"/>
                </a:solidFill>
                <a:latin typeface="Calibri" panose="020F0502020204030204" pitchFamily="34" charset="0"/>
              </a:rPr>
              <a:t>Kitchen Cancellation Rate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D7891D0-42BA-C15A-7865-2C5990EA5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076257"/>
            <a:ext cx="5156200" cy="309585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16E91A9-7C1E-F4AA-AC1F-6B2971263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19" y="2988296"/>
            <a:ext cx="5035581" cy="31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5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AC4A18-1377-B01D-8F1E-65171D35E934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Menu &amp; Customer Insights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B3510-9952-7A62-4461-263C27D221BA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87DB31-30C0-7336-D7E8-47CC410A8355}"/>
              </a:ext>
            </a:extLst>
          </p:cNvPr>
          <p:cNvSpPr/>
          <p:nvPr/>
        </p:nvSpPr>
        <p:spPr>
          <a:xfrm>
            <a:off x="508000" y="1270000"/>
            <a:ext cx="3556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F7ADDE-87B4-FF46-0DAA-8BCCD75F0840}"/>
              </a:ext>
            </a:extLst>
          </p:cNvPr>
          <p:cNvSpPr/>
          <p:nvPr/>
        </p:nvSpPr>
        <p:spPr>
          <a:xfrm>
            <a:off x="508000" y="1270000"/>
            <a:ext cx="3556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4826B7-3268-185D-D9E6-71EA5E31FF61}"/>
              </a:ext>
            </a:extLst>
          </p:cNvPr>
          <p:cNvSpPr txBox="1"/>
          <p:nvPr/>
        </p:nvSpPr>
        <p:spPr>
          <a:xfrm>
            <a:off x="660400" y="1435100"/>
            <a:ext cx="325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TOP REVENUE CATEGORY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1A79E-7800-1EF4-7CAB-74541736A895}"/>
              </a:ext>
            </a:extLst>
          </p:cNvPr>
          <p:cNvSpPr txBox="1"/>
          <p:nvPr/>
        </p:nvSpPr>
        <p:spPr>
          <a:xfrm>
            <a:off x="660400" y="1651000"/>
            <a:ext cx="3251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Pizza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781FD-F65A-980C-39B4-B13E7F93D466}"/>
              </a:ext>
            </a:extLst>
          </p:cNvPr>
          <p:cNvSpPr txBox="1"/>
          <p:nvPr/>
        </p:nvSpPr>
        <p:spPr>
          <a:xfrm>
            <a:off x="660400" y="21336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₹3,248,288.52 revenue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4DAE4-9D8C-498B-22C6-2EEBF831239F}"/>
              </a:ext>
            </a:extLst>
          </p:cNvPr>
          <p:cNvSpPr/>
          <p:nvPr/>
        </p:nvSpPr>
        <p:spPr>
          <a:xfrm>
            <a:off x="4318000" y="1270000"/>
            <a:ext cx="3556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4B2CA-6396-BDA5-F083-D2D2F3D7863E}"/>
              </a:ext>
            </a:extLst>
          </p:cNvPr>
          <p:cNvSpPr/>
          <p:nvPr/>
        </p:nvSpPr>
        <p:spPr>
          <a:xfrm>
            <a:off x="4318000" y="1270000"/>
            <a:ext cx="3556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294DA-91F8-2E73-0334-44835130C46C}"/>
              </a:ext>
            </a:extLst>
          </p:cNvPr>
          <p:cNvSpPr txBox="1"/>
          <p:nvPr/>
        </p:nvSpPr>
        <p:spPr>
          <a:xfrm>
            <a:off x="4470400" y="1435100"/>
            <a:ext cx="325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TOP CUSTOMER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8F1868-6AC6-4F9E-A955-A319D8200C14}"/>
              </a:ext>
            </a:extLst>
          </p:cNvPr>
          <p:cNvSpPr txBox="1"/>
          <p:nvPr/>
        </p:nvSpPr>
        <p:spPr>
          <a:xfrm>
            <a:off x="4470400" y="1651000"/>
            <a:ext cx="3251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CUS-00582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4F900-818A-E287-ADD2-7460AD21FE8E}"/>
              </a:ext>
            </a:extLst>
          </p:cNvPr>
          <p:cNvSpPr txBox="1"/>
          <p:nvPr/>
        </p:nvSpPr>
        <p:spPr>
          <a:xfrm>
            <a:off x="4470400" y="21336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276 orders placed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A57CDB-8A0A-6552-4200-596A4231B292}"/>
              </a:ext>
            </a:extLst>
          </p:cNvPr>
          <p:cNvSpPr/>
          <p:nvPr/>
        </p:nvSpPr>
        <p:spPr>
          <a:xfrm>
            <a:off x="8128000" y="1270000"/>
            <a:ext cx="3556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8404C-1EC1-2326-B920-F79BCB8C7B6D}"/>
              </a:ext>
            </a:extLst>
          </p:cNvPr>
          <p:cNvSpPr/>
          <p:nvPr/>
        </p:nvSpPr>
        <p:spPr>
          <a:xfrm>
            <a:off x="8128000" y="1270000"/>
            <a:ext cx="3556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FD85C0-19FD-F6C1-EC3F-E9C99F2C3BC5}"/>
              </a:ext>
            </a:extLst>
          </p:cNvPr>
          <p:cNvSpPr txBox="1"/>
          <p:nvPr/>
        </p:nvSpPr>
        <p:spPr>
          <a:xfrm>
            <a:off x="8280400" y="1435100"/>
            <a:ext cx="325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TOP CUSTOMER SPEND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AD9331-B0E1-F421-8269-8B0D98EE7120}"/>
              </a:ext>
            </a:extLst>
          </p:cNvPr>
          <p:cNvSpPr txBox="1"/>
          <p:nvPr/>
        </p:nvSpPr>
        <p:spPr>
          <a:xfrm>
            <a:off x="8280400" y="1651000"/>
            <a:ext cx="3251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₹156,944.26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C703E-B0EE-F32A-6830-97278A29D015}"/>
              </a:ext>
            </a:extLst>
          </p:cNvPr>
          <p:cNvSpPr txBox="1"/>
          <p:nvPr/>
        </p:nvSpPr>
        <p:spPr>
          <a:xfrm>
            <a:off x="8280400" y="21336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CUS-00582 lifetime spend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11F201-A48A-A11E-10FF-BF9895DFFC0F}"/>
              </a:ext>
            </a:extLst>
          </p:cNvPr>
          <p:cNvSpPr/>
          <p:nvPr/>
        </p:nvSpPr>
        <p:spPr>
          <a:xfrm>
            <a:off x="508000" y="2603500"/>
            <a:ext cx="54610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F728D8-A492-F60B-8810-DD29B76C5ECB}"/>
              </a:ext>
            </a:extLst>
          </p:cNvPr>
          <p:cNvSpPr txBox="1"/>
          <p:nvPr/>
        </p:nvSpPr>
        <p:spPr>
          <a:xfrm>
            <a:off x="660400" y="2730500"/>
            <a:ext cx="5156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563EB"/>
                </a:solidFill>
                <a:latin typeface="Calibri" panose="020F0502020204030204" pitchFamily="34" charset="0"/>
              </a:rPr>
              <a:t>Revenue by Menu Category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4E325E-5BF0-F206-9439-838B67A4BBBC}"/>
              </a:ext>
            </a:extLst>
          </p:cNvPr>
          <p:cNvSpPr/>
          <p:nvPr/>
        </p:nvSpPr>
        <p:spPr>
          <a:xfrm>
            <a:off x="6223000" y="2603500"/>
            <a:ext cx="54610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021A77-466A-0793-03D0-4BF333B3F04F}"/>
              </a:ext>
            </a:extLst>
          </p:cNvPr>
          <p:cNvSpPr txBox="1"/>
          <p:nvPr/>
        </p:nvSpPr>
        <p:spPr>
          <a:xfrm>
            <a:off x="6375400" y="2730500"/>
            <a:ext cx="5156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563EB"/>
                </a:solidFill>
                <a:latin typeface="Calibri" panose="020F0502020204030204" pitchFamily="34" charset="0"/>
              </a:rPr>
              <a:t>Orders by Customer Segment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67907C5-2FDC-A397-29E4-572BE4F94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63" y="3046166"/>
            <a:ext cx="4986803" cy="32242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5AEE6C3-E6F5-B9F5-2127-E891C6F90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32" y="3155316"/>
            <a:ext cx="5066136" cy="303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32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AEA702-00ED-1ACB-EFE0-B517D3F43C08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Demand &amp; Delivery Patterns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7AB04D-C496-D296-CDE7-33693BC99062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511A9-BB83-2DDF-2A7C-0A5EF64B6B55}"/>
              </a:ext>
            </a:extLst>
          </p:cNvPr>
          <p:cNvSpPr/>
          <p:nvPr/>
        </p:nvSpPr>
        <p:spPr>
          <a:xfrm>
            <a:off x="508000" y="1270000"/>
            <a:ext cx="3556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06A3F-4E08-F8CD-9546-11B3AE358A51}"/>
              </a:ext>
            </a:extLst>
          </p:cNvPr>
          <p:cNvSpPr/>
          <p:nvPr/>
        </p:nvSpPr>
        <p:spPr>
          <a:xfrm>
            <a:off x="508000" y="1270000"/>
            <a:ext cx="3556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45A56-9B54-A1E5-82FD-987763D32078}"/>
              </a:ext>
            </a:extLst>
          </p:cNvPr>
          <p:cNvSpPr txBox="1"/>
          <p:nvPr/>
        </p:nvSpPr>
        <p:spPr>
          <a:xfrm>
            <a:off x="660400" y="1435100"/>
            <a:ext cx="325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AVERAGE DELIVERY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BE09C-9B1E-38FA-F46B-595AA2FA3925}"/>
              </a:ext>
            </a:extLst>
          </p:cNvPr>
          <p:cNvSpPr txBox="1"/>
          <p:nvPr/>
        </p:nvSpPr>
        <p:spPr>
          <a:xfrm>
            <a:off x="660400" y="1651000"/>
            <a:ext cx="3251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29.31 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CC3BC-0988-3D22-D640-C03B19AEA098}"/>
              </a:ext>
            </a:extLst>
          </p:cNvPr>
          <p:cNvSpPr txBox="1"/>
          <p:nvPr/>
        </p:nvSpPr>
        <p:spPr>
          <a:xfrm>
            <a:off x="660400" y="21336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Platform-wide average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9AFEF2-597D-DBCE-B9E1-0D1FA8A108F8}"/>
              </a:ext>
            </a:extLst>
          </p:cNvPr>
          <p:cNvSpPr/>
          <p:nvPr/>
        </p:nvSpPr>
        <p:spPr>
          <a:xfrm>
            <a:off x="4318000" y="1270000"/>
            <a:ext cx="3556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D1651E-A187-A2D5-F946-9B3B4EF90FDE}"/>
              </a:ext>
            </a:extLst>
          </p:cNvPr>
          <p:cNvSpPr/>
          <p:nvPr/>
        </p:nvSpPr>
        <p:spPr>
          <a:xfrm>
            <a:off x="4318000" y="1270000"/>
            <a:ext cx="3556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669DAC-BAEF-76E3-4F78-568E4793FBFB}"/>
              </a:ext>
            </a:extLst>
          </p:cNvPr>
          <p:cNvSpPr txBox="1"/>
          <p:nvPr/>
        </p:nvSpPr>
        <p:spPr>
          <a:xfrm>
            <a:off x="4470400" y="1435100"/>
            <a:ext cx="325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SHORT DISTANCE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0317A-2C59-F53B-3787-D557AC6BD701}"/>
              </a:ext>
            </a:extLst>
          </p:cNvPr>
          <p:cNvSpPr txBox="1"/>
          <p:nvPr/>
        </p:nvSpPr>
        <p:spPr>
          <a:xfrm>
            <a:off x="4470400" y="1651000"/>
            <a:ext cx="3251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20.45 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582D83-FEF3-7553-3725-E3C6CABBF7BA}"/>
              </a:ext>
            </a:extLst>
          </p:cNvPr>
          <p:cNvSpPr txBox="1"/>
          <p:nvPr/>
        </p:nvSpPr>
        <p:spPr>
          <a:xfrm>
            <a:off x="4470400" y="21336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Average delivery 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20B0CA-BD65-37AD-7DAA-EF00A51DB9EF}"/>
              </a:ext>
            </a:extLst>
          </p:cNvPr>
          <p:cNvSpPr/>
          <p:nvPr/>
        </p:nvSpPr>
        <p:spPr>
          <a:xfrm>
            <a:off x="8128000" y="1270000"/>
            <a:ext cx="3556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386C95-4A36-D550-E508-A18E29403934}"/>
              </a:ext>
            </a:extLst>
          </p:cNvPr>
          <p:cNvSpPr/>
          <p:nvPr/>
        </p:nvSpPr>
        <p:spPr>
          <a:xfrm>
            <a:off x="8128000" y="1270000"/>
            <a:ext cx="3556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CF37A-CE56-AE65-5CF6-628DAD20E000}"/>
              </a:ext>
            </a:extLst>
          </p:cNvPr>
          <p:cNvSpPr txBox="1"/>
          <p:nvPr/>
        </p:nvSpPr>
        <p:spPr>
          <a:xfrm>
            <a:off x="8280400" y="1435100"/>
            <a:ext cx="3251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Calibri" panose="020F0502020204030204" pitchFamily="34" charset="0"/>
              </a:rPr>
              <a:t>LONG DISTANCE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4EA404-1280-D14D-4319-7085A85ED4CC}"/>
              </a:ext>
            </a:extLst>
          </p:cNvPr>
          <p:cNvSpPr txBox="1"/>
          <p:nvPr/>
        </p:nvSpPr>
        <p:spPr>
          <a:xfrm>
            <a:off x="8280400" y="1651000"/>
            <a:ext cx="3251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Calibri" panose="020F0502020204030204" pitchFamily="34" charset="0"/>
              </a:rPr>
              <a:t>57.81 min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8025B2-EA28-7B8A-183C-84AF4E9E8D77}"/>
              </a:ext>
            </a:extLst>
          </p:cNvPr>
          <p:cNvSpPr txBox="1"/>
          <p:nvPr/>
        </p:nvSpPr>
        <p:spPr>
          <a:xfrm>
            <a:off x="8280400" y="21336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Calibri" panose="020F0502020204030204" pitchFamily="34" charset="0"/>
              </a:rPr>
              <a:t>Average delivery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8B931D-C0C9-5265-A5F2-4D9D5F289988}"/>
              </a:ext>
            </a:extLst>
          </p:cNvPr>
          <p:cNvSpPr txBox="1"/>
          <p:nvPr/>
        </p:nvSpPr>
        <p:spPr>
          <a:xfrm>
            <a:off x="508000" y="26035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563EB"/>
                </a:solidFill>
                <a:latin typeface="Calibri" panose="020F0502020204030204" pitchFamily="34" charset="0"/>
              </a:rPr>
              <a:t>Peak demand window: 18:00–21:00 (33.7% of orders)   |   Peak individual hour: 20:00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F561D-BE6D-7605-0B4C-2121104AECFA}"/>
              </a:ext>
            </a:extLst>
          </p:cNvPr>
          <p:cNvSpPr/>
          <p:nvPr/>
        </p:nvSpPr>
        <p:spPr>
          <a:xfrm>
            <a:off x="508000" y="3048000"/>
            <a:ext cx="11176000" cy="345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412FA-ED1F-302B-6047-5F5CBB11F316}"/>
              </a:ext>
            </a:extLst>
          </p:cNvPr>
          <p:cNvSpPr txBox="1"/>
          <p:nvPr/>
        </p:nvSpPr>
        <p:spPr>
          <a:xfrm>
            <a:off x="660400" y="3175000"/>
            <a:ext cx="108712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563EB"/>
                </a:solidFill>
                <a:latin typeface="Calibri" panose="020F0502020204030204" pitchFamily="34" charset="0"/>
              </a:rPr>
              <a:t>Orders by Hour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E03F612-8986-7B7F-04F9-E017AA429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73" y="3429001"/>
            <a:ext cx="10914455" cy="290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0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692AA-AE5C-78D2-ED9D-956065907F58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Business Opportunities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392890-7FD1-7131-FA00-2F1BE7364A81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41F61-41F7-1A24-565E-26CD603C213E}"/>
              </a:ext>
            </a:extLst>
          </p:cNvPr>
          <p:cNvSpPr txBox="1"/>
          <p:nvPr/>
        </p:nvSpPr>
        <p:spPr>
          <a:xfrm>
            <a:off x="508000" y="1397000"/>
            <a:ext cx="111760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</a:rPr>
              <a:t>•  Investigate high-cancellation kitchens to identify and resolve root causes.</a:t>
            </a:r>
          </a:p>
          <a:p>
            <a:endParaRPr lang="en-US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</a:rPr>
              <a:t>•  Review menu pricing and category strategy based on revenue concentration.</a:t>
            </a:r>
          </a:p>
          <a:p>
            <a:endParaRPr lang="en-US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</a:rPr>
              <a:t>•  Prepare operations and staffing for the 18:00-21:00 evening demand peak.</a:t>
            </a:r>
          </a:p>
          <a:p>
            <a:endParaRPr lang="en-US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</a:rPr>
              <a:t>•  Investigate the elevated 11.14% cancellation rate among new customers.</a:t>
            </a:r>
          </a:p>
          <a:p>
            <a:endParaRPr lang="en-US" sz="140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1E293B"/>
                </a:solidFill>
                <a:latin typeface="Calibri" panose="020F0502020204030204" pitchFamily="34" charset="0"/>
              </a:rPr>
              <a:t>•  Reconcile the 20-customer gap between master data (1,000) and orders data (980).</a:t>
            </a:r>
          </a:p>
        </p:txBody>
      </p:sp>
    </p:spTree>
    <p:extLst>
      <p:ext uri="{BB962C8B-B14F-4D97-AF65-F5344CB8AC3E}">
        <p14:creationId xmlns:p14="http://schemas.microsoft.com/office/powerpoint/2010/main" val="45405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5C5A2-C3A2-4DF2-6A30-673477F2C2E8}"/>
              </a:ext>
            </a:extLst>
          </p:cNvPr>
          <p:cNvSpPr txBox="1"/>
          <p:nvPr/>
        </p:nvSpPr>
        <p:spPr>
          <a:xfrm>
            <a:off x="508000" y="3556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0F172A"/>
                </a:solidFill>
                <a:latin typeface="Calibri" panose="020F0502020204030204" pitchFamily="34" charset="0"/>
              </a:rPr>
              <a:t>Key Takeaways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D2826-F5E7-58BF-8CE6-8D3FBCBE0856}"/>
              </a:ext>
            </a:extLst>
          </p:cNvPr>
          <p:cNvSpPr/>
          <p:nvPr/>
        </p:nvSpPr>
        <p:spPr>
          <a:xfrm>
            <a:off x="508000" y="990600"/>
            <a:ext cx="7112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B29B5-8F0F-7387-A2C0-074CB5D9CB52}"/>
              </a:ext>
            </a:extLst>
          </p:cNvPr>
          <p:cNvSpPr txBox="1"/>
          <p:nvPr/>
        </p:nvSpPr>
        <p:spPr>
          <a:xfrm>
            <a:off x="508000" y="1371600"/>
            <a:ext cx="11176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</a:rPr>
              <a:t>•  Platform-wide cancellation rate stands at 10.19%, with new customers cancelling more often, at 11.14%.</a:t>
            </a:r>
          </a:p>
          <a:p>
            <a:endParaRPr lang="en-US" sz="1400" b="1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</a:rPr>
              <a:t>•  KIT-002 leads all kitchens in both order volume (3,427) and revenue (₹1,949,309.57).</a:t>
            </a:r>
          </a:p>
          <a:p>
            <a:endParaRPr lang="en-US" sz="1400" b="1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</a:rPr>
              <a:t>•  Pizza is the top revenue-generating menu category at ₹3,248,288.52.</a:t>
            </a:r>
          </a:p>
          <a:p>
            <a:endParaRPr lang="en-US" sz="1400" b="1" dirty="0">
              <a:solidFill>
                <a:srgbClr val="1E293B"/>
              </a:solidFill>
              <a:latin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</a:rPr>
              <a:t>•  Demand peaks sharply between 18:00 and 21:00, contributing to longer delivery times.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272699-34F6-7DBF-0B6E-7F428DAC5953}"/>
              </a:ext>
            </a:extLst>
          </p:cNvPr>
          <p:cNvSpPr/>
          <p:nvPr/>
        </p:nvSpPr>
        <p:spPr>
          <a:xfrm>
            <a:off x="508000" y="4445000"/>
            <a:ext cx="7112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FBCFD-9697-D278-BC9C-8E1D55EC6856}"/>
              </a:ext>
            </a:extLst>
          </p:cNvPr>
          <p:cNvSpPr txBox="1"/>
          <p:nvPr/>
        </p:nvSpPr>
        <p:spPr>
          <a:xfrm>
            <a:off x="508000" y="4648200"/>
            <a:ext cx="1117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Calibri" panose="020F0502020204030204" pitchFamily="34" charset="0"/>
              </a:rPr>
              <a:t>Arannayava Debnath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D0C9C-7475-9BC3-D4B2-AFC14875B0EC}"/>
              </a:ext>
            </a:extLst>
          </p:cNvPr>
          <p:cNvSpPr txBox="1"/>
          <p:nvPr/>
        </p:nvSpPr>
        <p:spPr>
          <a:xfrm>
            <a:off x="508000" y="49911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</a:rPr>
              <a:t>Python  |  Pandas  |  MySQL  |  SQL  |  Matplotlib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38A1E-A4B0-58DE-EE41-3C33CE565903}"/>
              </a:ext>
            </a:extLst>
          </p:cNvPr>
          <p:cNvSpPr txBox="1"/>
          <p:nvPr/>
        </p:nvSpPr>
        <p:spPr>
          <a:xfrm>
            <a:off x="508000" y="53213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</a:rPr>
              <a:t>GitHub: github.com/your-username/urban-ghost-kitchen-analytics</a:t>
            </a:r>
          </a:p>
        </p:txBody>
      </p:sp>
    </p:spTree>
    <p:extLst>
      <p:ext uri="{BB962C8B-B14F-4D97-AF65-F5344CB8AC3E}">
        <p14:creationId xmlns:p14="http://schemas.microsoft.com/office/powerpoint/2010/main" val="3521339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FD57A539765459CB68C19091CA537" ma:contentTypeVersion="4" ma:contentTypeDescription="Create a new document." ma:contentTypeScope="" ma:versionID="917a642e35580dc052cdd36921b67428">
  <xsd:schema xmlns:xsd="http://www.w3.org/2001/XMLSchema" xmlns:xs="http://www.w3.org/2001/XMLSchema" xmlns:p="http://schemas.microsoft.com/office/2006/metadata/properties" xmlns:ns3="9160488e-909f-4feb-8940-de6e73493be3" targetNamespace="http://schemas.microsoft.com/office/2006/metadata/properties" ma:root="true" ma:fieldsID="4a2c968557665fc088e5944706d9376c" ns3:_="">
    <xsd:import namespace="9160488e-909f-4feb-8940-de6e73493b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0488e-909f-4feb-8940-de6e73493b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80201B-5612-4491-8517-54C080B76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60488e-909f-4feb-8940-de6e73493b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9D0086-5104-4981-9927-AF33416971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21993D-4FA2-409F-8A5A-CE1869FE89F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660</Words>
  <Application>Microsoft Office PowerPoint</Application>
  <PresentationFormat>Custom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xx1910@365mak.com</dc:creator>
  <cp:lastModifiedBy>xx1910@365mak.com</cp:lastModifiedBy>
  <cp:revision>1</cp:revision>
  <dcterms:created xsi:type="dcterms:W3CDTF">2026-09-26T20:19:35Z</dcterms:created>
  <dcterms:modified xsi:type="dcterms:W3CDTF">2026-09-26T20:29:27Z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0x010100297FD57A539765459CB68C19091CA537</vt:lpwstr>
  </property>
</Properties>
</file>